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Databricks Cluster Intelligence &amp;</a:t>
            </a:r>
            <a:br/>
            <a:r>
              <a:t>Autonomous Governance Agent</a:t>
            </a:r>
          </a:p>
          <a:p>
            <a:pPr>
              <a:defRPr sz="2000">
                <a:solidFill>
                  <a:srgbClr val="F97316"/>
                </a:solidFill>
              </a:defRPr>
            </a:pPr>
            <a:r>
              <a:t>Autonomous FinOps, HIPAA Security Policy Governance &amp; 3D Gemini Omni Video Generation</a:t>
            </a:r>
          </a:p>
          <a:p>
            <a:br/>
            <a:pPr>
              <a:defRPr sz="1600" i="1">
                <a:solidFill>
                  <a:srgbClr val="94A3B8"/>
                </a:solidFill>
              </a:defRPr>
            </a:pPr>
            <a:r>
              <a:t>Powered by Google Gemini 2.0 &amp; ADK Agent Engine on Vertex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DATABRICKS CLUSTER INTELLIGENCE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Core Capabilities &amp; Key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12064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🛡️ HIPAA Compliance Audit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Enforces Single-User mode, Unity Catalog, approved runtimes &amp; No Public IP for PHI workloads.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463040"/>
            <a:ext cx="512064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💰 FinOps Right-Sizing Engine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Detects idle clusters and scales worker nodes from 16 -&gt; 4 (75% monthly DBU cost reduction).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512064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⚡ Photon Engine Prediction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Forecasts 3.4x query execution speedup and 71% latency reduction with 13.3 LTS Photon.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931920"/>
            <a:ext cx="512064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🎥 Gemini Omni Video Gen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Generates 3D motion graphic previews via gemini-omni-flash-preview and streams bytes to GCS.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DATABRICKS CLUSTER INTELLIGENCE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Google Cloud Platform Infrastructure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86868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Vertex AI Memory Bank  |  (PreloadMemoryTool)</a:t>
            </a:r>
            <a:br/>
            <a:r>
              <a:t>Cross-session memory of user profiles &amp; cost limits.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698480" cy="86868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Google Cloud Firestore  |  (qwiklabs-gcp-02-7222a271d6bd)</a:t>
            </a:r>
            <a:br/>
            <a:r>
              <a:t>databricks_clusters &amp; recommendation_history audit logs.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10698480" cy="86868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Google Cloud Storage  |  (databricks-ops-optimizer...)</a:t>
            </a:r>
            <a:br/>
            <a:r>
              <a:t>Public HTTPS video streaming storage without local 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10698480" cy="86868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Vertex AI Omni Model  |  (gemini-omni-flash-preview)</a:t>
            </a:r>
            <a:br/>
            <a:r>
              <a:t>Global region 3D motion video generation.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94960"/>
            <a:ext cx="10698480" cy="86868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Agent Engine Sandbox  |  (ReasoningEngine Resource)</a:t>
            </a:r>
            <a:br/>
            <a:r>
              <a:t>Secure isolated python code execution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DATABRICKS CLUSTER INTELLIGENCE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Quantifiable Business &amp; Governance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4688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22C55E"/>
                </a:solidFill>
              </a:defRPr>
            </a:pPr>
            <a:r>
              <a:t>75%</a:t>
            </a:r>
          </a:p>
          <a:p>
            <a:br/>
            <a:pPr algn="ctr">
              <a:defRPr sz="1600" b="1">
                <a:solidFill>
                  <a:srgbClr val="F8FAFC"/>
                </a:solidFill>
              </a:defRPr>
            </a:pPr>
            <a:r>
              <a:t>Monthly Cost Savings</a:t>
            </a:r>
          </a:p>
          <a:p>
            <a:br/>
            <a:pPr algn="ctr">
              <a:defRPr sz="1300">
                <a:solidFill>
                  <a:srgbClr val="94A3B8"/>
                </a:solidFill>
              </a:defRPr>
            </a:pPr>
            <a:r>
              <a:t>$2,840/mo -&gt; $710/mo per cluster via 8x worker right-sizing.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828800"/>
            <a:ext cx="24688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22C55E"/>
                </a:solidFill>
              </a:defRPr>
            </a:pPr>
            <a:r>
              <a:t>3.4x</a:t>
            </a:r>
          </a:p>
          <a:p>
            <a:br/>
            <a:pPr algn="ctr">
              <a:defRPr sz="1600" b="1">
                <a:solidFill>
                  <a:srgbClr val="F8FAFC"/>
                </a:solidFill>
              </a:defRPr>
            </a:pPr>
            <a:r>
              <a:t>Query Performance Speedup</a:t>
            </a:r>
          </a:p>
          <a:p>
            <a:br/>
            <a:pPr algn="ctr">
              <a:defRPr sz="1300">
                <a:solidFill>
                  <a:srgbClr val="94A3B8"/>
                </a:solidFill>
              </a:defRPr>
            </a:pPr>
            <a:r>
              <a:t>71% reduction in Spark job latency using 13.3 LTS Photon.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828800"/>
            <a:ext cx="24688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22C55E"/>
                </a:solidFill>
              </a:defRPr>
            </a:pPr>
            <a:r>
              <a:t>100%</a:t>
            </a:r>
          </a:p>
          <a:p>
            <a:br/>
            <a:pPr algn="ctr">
              <a:defRPr sz="1600" b="1">
                <a:solidFill>
                  <a:srgbClr val="F8FAFC"/>
                </a:solidFill>
              </a:defRPr>
            </a:pPr>
            <a:r>
              <a:t>Compliance Enforcement</a:t>
            </a:r>
          </a:p>
          <a:p>
            <a:br/>
            <a:pPr algn="ctr">
              <a:defRPr sz="1300">
                <a:solidFill>
                  <a:srgbClr val="94A3B8"/>
                </a:solidFill>
              </a:defRPr>
            </a:pPr>
            <a:r>
              <a:t>Instant detection &amp; remediation of HIPAA/PHI security policy risks.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23960" y="1828800"/>
            <a:ext cx="24688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22C55E"/>
                </a:solidFill>
              </a:defRPr>
            </a:pPr>
            <a:r>
              <a:t>Audit</a:t>
            </a:r>
          </a:p>
          <a:p>
            <a:br/>
            <a:pPr algn="ctr">
              <a:defRPr sz="1600" b="1">
                <a:solidFill>
                  <a:srgbClr val="F8FAFC"/>
                </a:solidFill>
              </a:defRPr>
            </a:pPr>
            <a:r>
              <a:t>Complete Historical Trail</a:t>
            </a:r>
          </a:p>
          <a:p>
            <a:br/>
            <a:pPr algn="ctr">
              <a:defRPr sz="1300">
                <a:solidFill>
                  <a:srgbClr val="94A3B8"/>
                </a:solidFill>
              </a:defRPr>
            </a:pPr>
            <a:r>
              <a:t>Persistent Before vs After state audit logs stored in Firestore.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